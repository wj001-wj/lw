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本汇报不使用任何具体药品案例。以GC-MS含量测定为场景，按为什么验证、验证什么、如何安排实验展开。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验证的目标是证明分析程序适合预定用途。含量测定要覆盖目标物确认、定量可靠性以及实际样品流程。适用的验证特性及接受标准应依据用途、风险和质量标准预先确定。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取样代表性属于样品管理及检测全过程要求，不应将其简单等同于某一验证特性。GC-MS前处理包括提取、必要时衍生化、转移和定容；进样及分离可能有吸附、歧视效应或共洗脱；检测与定量受目标离子和积分设置影响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Q2(R2)强调基于预定用途选择特性。供试液稳定性是保证分析结果可靠的重要研究，但不应表述为Q2(R2)单独列举的核心验证特性。耐用性/稳健性通常在开发阶段考察并用于制定控制策略。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验证前要形成受控方法版本和批准的方案。GC-MS条件包括进样方式、分流比、柱型、升温程序、载气、接口/离子源、EI等离子化设置、扫描或SIM、目标离子和定量方式。内标法需要固定内标加入环节与计算规则。接受标准不能看完结果后再调整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将仪器进样重复性和方法重复性区分命名，后者与中间精密度同属于精密度。稳定性应尽早界定工作窗口；准确度、重复性和中间精密度可以在受控设计中并行。耐用性通常在开发/优化中完成。每批检测都需要适当系统适用性控制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较溶剂/试剂空白、参照标准、样品、可获得的阴性基质或安慰剂；不存在合适阴性样品时需论证替代证据。GC-MS可采用保留时间、目标离子与辅助离子、离子比及质谱图等信息；MS不是自动无干扰的保证，共洗脱和同离子干扰仍可能影响定量。离子比等限度需方法特定确定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线性是响应与量之间关系的模型证据。可采用峰面积，内标法通常采用响应比；当方差随浓度变化时应评估加权回归。报告范围与仪器校准范围不是同义词，应考虑制样和稀释。范围需同时获得适当准确度和精密度支持。回归结果不能只报告相关系数。示例若采用80%-120%应明确是设计示例，不作为通用强制范围，本页不规定百分比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C-MS系统适用性在每批分析开始前实施，并依据方法设置序列中检查及必要的结束检查。理论板数、关键峰分离度、拖尾因子等按用途选取，并非每个方法所有指标必须相同。还可检查保留时间、面积或响应比RSD、MS调谐/灵敏度及空白残留。调谐合格不能代替全部SST。常見板数和分离度数值不在本页写成强制统一限度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溶液六次进样是常用仪器/系统重复性示例，不代表完整方法精密度。方法重复性可在目标浓度水平独立制备六份；也可采用范围内至少九次测定（例如三个水平各三次）等符合用途的设计。分别计算各独立结果，不把重复进样当成独立制样来扩大样本量。RSD为样本标准差除以平均值乘100%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、4、8、12、18、24h仅为用户提出的通用示例，需要按实际检测批次和保存条件调整。记录温度、容器、封口、避光、自动进样器条件；衍生化方法还需关注反应完成后衍生物稳定性。以含量或适当响应比与初始值比较，同时监测新峰等；应利用稳定的参照或序列检查识别仪器漂移，不能把漂移误认为溶液变化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样回收率是准确度评价的一种方式，也可依用途采用参照材料或与可靠参照方法比较。加标应在前处理前发生，覆盖提取、衍生化和转移等流程。公式使用一致的量纲和样品当量，对本底量、称样量、纯度、稀释倍数等作适当修正。若加标对象与真实样品结合状态不同，回收率良好仍不能自动证明原样提取完全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间精密度研究实验室内日期、人员、仪器等常规变化，采用适合设计分离或综合变异的统计方法。耐用性/稳健性研究有意、小幅变化的影响，例如载气流量、柱温/升温参数、提取时间、衍生化条件；可根据风险采用因素设计。任意变更或超出验证范围不由耐用性结果自动涵盖。跨实验室再现性通常另行考虑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留方法版本、批准方案及预设接受标准、样品/标准品信息、实验设计、原始色谱和MS数据、积分参数、计算公式、统计结果和偏差调查。结论应说明适用对象、范围和保存时间等边界，不把单次验证无限外推。数据完整性贯穿全过程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对应典型错误的纠正行动。连续进样和独立制样不得混淆；提取后加标仅覆盖加入后的步骤，不能证明提取回收率；高R²不能排除系统性残差。若方法变化需评估重验证要求。系统适用性是运行状态检查，不是准确度评价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：测对了对应专属性；测得准对应准确度；测得稳对应精密度及分析期间的稳定性；范围内能测对应校准和范围验证；受控条件变化下可靠对应中间精密度、稳健性。日常SST负责持续运行控制。参考文件为中国药典2025年版四部9101分析方法验证指导原则、0521气相色谱法及相关系统适用性内容、ICH Q2(R2) Validation of Analytical Procedures最终版2023年11月1日。ICH官方入口https://www.ich.org/page/quality-guidelines，药典以授权出版文本为准。本稿未将未核对条款逐字引用。
依据框架：《中国药典》2025年版四部 9101、0521气相色谱法系统适用性相关原则；ICH Q2(R2)（2023）。本稿为通用教学归纳，不是逐条原文摘录。官方全文本次未成功在线取得，实际执行请核对授权药典文本、现行方法及验证方案。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含量测定方法学验证的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原理、顺序与实验设计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基于药典与 ICH Q2(R2) 的通用说明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40080" y="38770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AD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从“得到一个峰”到“给出可信的含量结果”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640080" y="5029200"/>
            <a:ext cx="2788920" cy="603504"/>
          </a:xfrm>
          <a:prstGeom prst="roundRect">
            <a:avLst>
              <a:gd name="adj" fmla="val 18182"/>
            </a:avLst>
          </a:prstGeom>
          <a:solidFill>
            <a:srgbClr val="254B72"/>
          </a:solidFill>
          <a:ln w="12700">
            <a:solidFill>
              <a:srgbClr val="254B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1480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原理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886200" y="5029200"/>
            <a:ext cx="2788920" cy="603504"/>
          </a:xfrm>
          <a:prstGeom prst="roundRect">
            <a:avLst>
              <a:gd name="adj" fmla="val 18182"/>
            </a:avLst>
          </a:prstGeom>
          <a:solidFill>
            <a:srgbClr val="254B72"/>
          </a:solidFill>
          <a:ln w="12700">
            <a:solidFill>
              <a:srgbClr val="254B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51480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132320" y="5029200"/>
            <a:ext cx="2788920" cy="603504"/>
          </a:xfrm>
          <a:prstGeom prst="roundRect">
            <a:avLst>
              <a:gd name="adj" fmla="val 18182"/>
            </a:avLst>
          </a:prstGeom>
          <a:solidFill>
            <a:srgbClr val="254B72"/>
          </a:solidFill>
          <a:ln w="12700">
            <a:solidFill>
              <a:srgbClr val="254B7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51480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实验设计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为什么含量测定要做方法学验证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有峰，只能说明出现了响应；可信结果，还需要证据。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423160"/>
            <a:ext cx="3456432" cy="274320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2606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508760" y="262432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能检出 ≠ 能定量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22960" y="3273552"/>
            <a:ext cx="2999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峰可能来自干扰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响应可能偏离校准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制样可能损失目标物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4370832" y="2423160"/>
            <a:ext cx="3456432" cy="274320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2606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285232" y="262432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 ≠ 可靠结果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599432" y="3273552"/>
            <a:ext cx="2999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同一仪器可以重复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整个流程仍可能偏差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稳定性影响报出的量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8147304" y="2423160"/>
            <a:ext cx="3447288" cy="2743200"/>
          </a:xfrm>
          <a:prstGeom prst="roundRect">
            <a:avLst>
              <a:gd name="adj" fmla="val 4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48472" y="2606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061704" y="2624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验证建立证据链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375904" y="3273552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说明适用对象与范围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证明准确度、精密度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明确日常控制条件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594360" y="5806440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" y="58521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核心目标：证明方法适合预定的含量测定用途，而非只证明仪器“能出峰”。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方法学验证的本质：控制整条测量链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每一环都可能引入误差；最终结果继承了这些误差。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423160"/>
            <a:ext cx="1620012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2651760"/>
            <a:ext cx="140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取样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228088" y="277063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3749040"/>
            <a:ext cx="16200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代表性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均匀性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470404" y="2423160"/>
            <a:ext cx="1620012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80132" y="2651760"/>
            <a:ext cx="140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前处理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104132" y="277063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470404" y="3749040"/>
            <a:ext cx="16200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提取 / 转移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必要时衍生化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346448" y="2423160"/>
            <a:ext cx="1620012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56176" y="2651760"/>
            <a:ext cx="140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分离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980176" y="277063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346448" y="3749040"/>
            <a:ext cx="16200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共洗脱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峰形 / 分离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222492" y="2423160"/>
            <a:ext cx="1620012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32220" y="2651760"/>
            <a:ext cx="140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检测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856220" y="277063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222492" y="3749040"/>
            <a:ext cx="16200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离子选择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信号 / 积分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98536" y="2423160"/>
            <a:ext cx="1620012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08264" y="2651760"/>
            <a:ext cx="140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校准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9732264" y="277063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098536" y="3749040"/>
            <a:ext cx="16200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标准溯源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 / 范围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974580" y="2423160"/>
            <a:ext cx="1620012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84308" y="2651760"/>
            <a:ext cx="140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含量结果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974580" y="3749040"/>
            <a:ext cx="16200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稀释倍数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 / 计算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594360" y="5806440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8096" y="58521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验证对象是分析程序；不只是色谱峰，也不只是仪器。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验证回答哪些核心问题？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系统适用性是运行检查；其他特性支持方法适用性的论证。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94560"/>
          <a:ext cx="110002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663440"/>
                <a:gridCol w="3502152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项目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要回答的问题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关注点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专属性 / 选择性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测的是不是目标物？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基质、杂质、相邻峰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线性 / 校准与范围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响应能否换算为量？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校准模型、拟定报告范围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精密度 + 准确度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能否测得稳、测得准？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随机波动、系统偏差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供试液稳定性 + 耐用性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放置或小变化后可靠吗？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时间窗口、关键条件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系统适用性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今天的系统合格吗？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运行前及运行中控制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94360" y="5806440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58521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“检出限 / 定量限”并非所有含量测定都必须单列；按用途和低端定量风险决定。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正式验证前：先固定方法，再固定判定规则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方法还在变化时，结果无法归属于同一个分析程序。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331720"/>
            <a:ext cx="5303520" cy="3063240"/>
          </a:xfrm>
          <a:prstGeom prst="roundRect">
            <a:avLst>
              <a:gd name="adj" fmla="val 3582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5328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固定方法版本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22960" y="3182112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色谱与 MS 条件、进样量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提取、必要时衍生化与定容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外标 / 内标、积分与计算规则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217920" y="2331720"/>
            <a:ext cx="5376672" cy="3063240"/>
          </a:xfrm>
          <a:prstGeom prst="roundRect">
            <a:avLst>
              <a:gd name="adj" fmla="val 3582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2532888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固定验证方案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446520" y="3182112"/>
            <a:ext cx="49194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样品、浓度水平与重复次数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参照物、原始数据与统计方法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接受标准、偏差处理与结论规则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94360" y="5806440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58521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预实验可以调整方法；正式验证中的变更应评估影响并按需重做。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推荐实验顺序：先确认对象，再建立定量证据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这是教学推荐顺序，不是药典或 ICH 强制规定的唯一顺序。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304288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2532888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 / 固定方法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166110" y="26517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08426" y="2304288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18154" y="2532888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预实验定浓度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80176" y="26517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222492" y="2304288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32220" y="2532888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系统适用性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794242" y="26517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036558" y="2304288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6286" y="2532888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专属性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94360" y="3685032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" y="3913632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线性与范围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166110" y="4032504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3408426" y="3685032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18154" y="3913632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稳定性窗口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980176" y="4032504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6222492" y="3685032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32220" y="3913632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进样精密度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794242" y="4032504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9036558" y="3685032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6286" y="3913632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独立制样重复性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31520" y="52120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  准确度 / 回收率  →  中间精密度  →  汇总判定  →  正式样品测定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594360" y="5833872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8096" y="587959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耐用性在开发阶段优先考察；系统适用性贯穿每批检测。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专属性 / 选择性：先证明“测的是谁”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目的：排除基质、杂质与相邻峰对定量结果的影响。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377440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2606040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空白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166110" y="272491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3703320"/>
            <a:ext cx="25580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排查试剂 / 溶剂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污染与残留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08426" y="2377440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18154" y="2606040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对照品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80176" y="272491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408426" y="3703320"/>
            <a:ext cx="25580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建立目标物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保留与离子信息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22492" y="2377440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2220" y="2606040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供试品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794242" y="272491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222492" y="3703320"/>
            <a:ext cx="25580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检查目标峰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及相邻干扰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036558" y="2377440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6286" y="2606040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阴性基质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036558" y="3703320"/>
            <a:ext cx="25580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检查基质贡献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可获得时使用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94360" y="5806440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8096" y="58521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GC-MS：保留时间 + 目标/辅助离子 + 离子比或质谱信息；单一离子不能保证无干扰。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线性与范围：从响应到可信的浓度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至少 5 个适当分布的浓度水平；覆盖拟定工作范围。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331720"/>
            <a:ext cx="3456432" cy="3063240"/>
          </a:xfrm>
          <a:prstGeom prst="roundRect">
            <a:avLst>
              <a:gd name="adj" fmla="val 3582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53288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为什么要做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22960" y="3182112"/>
            <a:ext cx="29992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响应与量未必始终成比例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低端可能受噪声影响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高端可能饱和或过载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70832" y="2331720"/>
            <a:ext cx="3456432" cy="3063240"/>
          </a:xfrm>
          <a:prstGeom prst="roundRect">
            <a:avLst>
              <a:gd name="adj" fmla="val 3582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253288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实验怎么做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4599432" y="3182112"/>
            <a:ext cx="29992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独立配制 ≥5 水平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峰面积或内标响应比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低端、中部、高端均覆盖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8147304" y="2331720"/>
            <a:ext cx="3447288" cy="3063240"/>
          </a:xfrm>
          <a:prstGeom prst="roundRect">
            <a:avLst>
              <a:gd name="adj" fmla="val 3582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75904" y="253288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怎样评价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375904" y="3182112"/>
            <a:ext cx="29900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方程、斜率、截距、R²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残差趋势与低端偏差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必要时评估加权模型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94360" y="5806440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58521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 R² 不等于模型正确；范围内还需有准确度与精密度证据。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系统适用性：今天的系统能否开始检测？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它是持续的运行状态确认，不能代替方法准确度。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77440"/>
          <a:ext cx="1100023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233672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检查对象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可选指标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解释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分离与峰形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理论板数 / 分离度 / 拖尾因子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关键峰能分开、定量峰形可接受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进样与响应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保留时间 / 面积或响应比 RSD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运行中的响应足够稳定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GC-MS 状态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调谐 / 离子响应 / 空白残留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检测条件与污染状态受控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94360" y="5806440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58521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方法专属接受标准应预先规定；不合格先查因，不直接报样品含量。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精密度与重复性：波动来自哪里？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重复性和中间精密度属于精密度；连续进样只覆盖流程的一部分。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33172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5328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仪器进样精密度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22960" y="3182112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同一溶液 → 连续进样 6 次（示例）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观察面积 / 响应比等 RSD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主要反映进样与检测波动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217920" y="2331720"/>
            <a:ext cx="5376672" cy="2926080"/>
          </a:xfrm>
          <a:prstGeom prst="roundRect">
            <a:avLst>
              <a:gd name="adj" fmla="val 375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2532888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方法重复性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446520" y="3182112"/>
            <a:ext cx="4919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同批均匀样品 → 独立制备 6 份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各份按完整方法测定含量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覆盖制样、分离、检测与计算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94360" y="5806440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58521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RSD(%) = 标准差 / 平均值 × 100%；次数与限度按预定用途和方案确定。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供试液稳定性：确定可靠的分析时间窗口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关注降解、挥发、吸附，以及 GC-MS 衍生物可能发生的变化。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468880"/>
            <a:ext cx="1620012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2697480"/>
            <a:ext cx="140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 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228088" y="281635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470404" y="2468880"/>
            <a:ext cx="1620012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80132" y="2697480"/>
            <a:ext cx="140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h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104132" y="281635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346448" y="2468880"/>
            <a:ext cx="1620012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56176" y="2697480"/>
            <a:ext cx="140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h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980176" y="281635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222492" y="2468880"/>
            <a:ext cx="1620012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32220" y="2697480"/>
            <a:ext cx="140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h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856220" y="281635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098536" y="2468880"/>
            <a:ext cx="1620012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08264" y="2697480"/>
            <a:ext cx="140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h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732264" y="281635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9974580" y="2468880"/>
            <a:ext cx="1620012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84308" y="2697480"/>
            <a:ext cx="14005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h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77240" y="38587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同一条件下保存 → 按时间点测定 → 与初始值比较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777240" y="46634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记录：温度、避光、容器密封、进样器条件；同步监测仪器漂移。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594360" y="5806440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8096" y="58521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时间点为设计示例；以预设变化限度确定“可放置多久”，不是固定放置 24 h。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准确度 / 加样回收率：真实值有没有被偏离？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低、中、高 3 水平 × 每水平 3 份，是常用的通用设计。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304288"/>
            <a:ext cx="11000232" cy="1033272"/>
          </a:xfrm>
          <a:prstGeom prst="roundRect">
            <a:avLst>
              <a:gd name="adj" fmla="val 10619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2596896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回收率(%) =（测得量 − 原有量）/ 加入量 × 100%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94360" y="3675888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3904488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样品 + 标准品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166110" y="40233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08426" y="3675888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18154" y="3904488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完整前处理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980176" y="40233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222492" y="3675888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2220" y="3904488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测定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794242" y="40233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036558" y="3675888"/>
            <a:ext cx="2558034" cy="10972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6286" y="3904488"/>
            <a:ext cx="233857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计算与评价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94360" y="5806440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" y="58521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前处理前加标，覆盖完整流程；本底、加入量和测得量必须按同一基准计算。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中间精密度与耐用性：换人换天，或小改条件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两类问题不同：常规实验室变动 vs. 有意改变方法参数。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377440"/>
            <a:ext cx="5303520" cy="3063240"/>
          </a:xfrm>
          <a:prstGeom prst="roundRect">
            <a:avLst>
              <a:gd name="adj" fmla="val 3582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578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中间精密度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22960" y="3227832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不同日期 / 分析人员 / 仪器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独立制样并比较含量结果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评价实验室内整体变异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217920" y="2377440"/>
            <a:ext cx="5376672" cy="3063240"/>
          </a:xfrm>
          <a:prstGeom prst="roundRect">
            <a:avLst>
              <a:gd name="adj" fmla="val 3582"/>
            </a:avLst>
          </a:prstGeom>
          <a:solidFill>
            <a:srgbClr val="EDF3F9"/>
          </a:solidFill>
          <a:ln w="12700">
            <a:solidFill>
              <a:srgbClr val="EDF3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2578608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耐用性 / 稳健性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446520" y="3227832"/>
            <a:ext cx="49194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小幅改变载气流量、柱温等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观察含量与关键系统指标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8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识别需严控的参数与允许窗口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94360" y="5806440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58521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耐用性通常在开发中研究；中间精密度不等同于跨实验室再现性。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验证报告：让结论可以被复核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不仅给出“合格”，还要留下能够重算、追溯的证据。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94560"/>
          <a:ext cx="1100023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513832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记录什么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为什么需要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方法条件 + 样品制备 + 版本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别人能够按同一程序复现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验证设计 + 预设接受标准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说明如何验证、如何判定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原始数据 + 积分 + 计算公式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结果可以追溯、重算与审查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统计结果 + 偏差调查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解释波动、异常和失败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结论 + 适用边界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明确能测什么、在哪些条件下可用</a:t>
                      </a:r>
                      <a:endParaRPr lang="en-US" sz="20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94360" y="5806440"/>
            <a:ext cx="11000232" cy="420624"/>
          </a:xfrm>
          <a:prstGeom prst="roundRect">
            <a:avLst>
              <a:gd name="adj" fmla="val 2608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58521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9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记录每项“通过 / 未通过 / 未开展”及依据，不用总体“合格”掩盖未解决问题。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常见错误：漂亮数字也可能支撑错误结论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错误多发生在设计与解释阶段，而不只是计算阶段。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03120"/>
          <a:ext cx="11000232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468112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常见错误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正确做法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把连续进样当成方法重复性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用独立制样覆盖完整流程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只看 R²，忽略残差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检查拟合偏差、残差与低端表现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提取后才加标评价全过程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前处理前加标；说明覆盖的环节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样品超出范围仍代入方程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调整稀释并在验证范围内测定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方法未固定就开展验证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先固定版本、方案和接受标准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用系统适用性证明准确度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6384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准确度需要独立参照或回收证据</a:t>
                      </a:r>
                      <a:endParaRPr lang="en-US" sz="1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18872" marR="118872" marT="118872" marB="11887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474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/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总结：用五类证据支持一个含量结果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9961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最终目的：证明含量测定方法适合质量标准的预定用途。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GC-MS · 含量测定方法学验证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2404872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54B72"/>
          </a:solidFill>
          <a:ln w="12700">
            <a:solidFill>
              <a:srgbClr val="254B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测对了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2816352" y="2404872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54B72"/>
          </a:solidFill>
          <a:ln w="12700">
            <a:solidFill>
              <a:srgbClr val="254B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07792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测得准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5038344" y="2404872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54B72"/>
          </a:solidFill>
          <a:ln w="12700">
            <a:solidFill>
              <a:srgbClr val="254B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9784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测得稳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7260336" y="2404872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54B72"/>
          </a:solidFill>
          <a:ln w="12700">
            <a:solidFill>
              <a:srgbClr val="254B7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51776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范围内能测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9482328" y="2404872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54B72"/>
          </a:solidFill>
          <a:ln w="12700">
            <a:solidFill>
              <a:srgbClr val="254B7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73768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换条件可靠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85800" y="42976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固定方法 → 按计划验证 → 审查证据 → 明确适用边界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685800" y="5349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依据：2025年版《中国药典》四部 9101、气相色谱法相关原则；ICH Q2(R2)。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实验水平、时间点与限度应按实际用途、风险及正式文本确定。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含量测定方法学验证的原理、顺序与实验设计</dc:title>
  <dc:subject>GC-MS含量测定方法学验证</dc:subject>
  <dc:creator>Research Methods</dc:creator>
  <cp:lastModifiedBy>Research Methods</cp:lastModifiedBy>
  <cp:revision>1</cp:revision>
  <dcterms:created xsi:type="dcterms:W3CDTF">2026-10-08T16:34:12Z</dcterms:created>
  <dcterms:modified xsi:type="dcterms:W3CDTF">2026-10-08T16:34:12Z</dcterms:modified>
</cp:coreProperties>
</file>